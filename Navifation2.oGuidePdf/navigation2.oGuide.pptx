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Pacifico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41" Type="http://schemas.openxmlformats.org/officeDocument/2006/relationships/font" Target="fonts/Pacifico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7167d9ad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7167d9ad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7167d9ad5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f7167d9ad5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7167d9ad5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f7167d9ad5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7167d9ad5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7167d9ad5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7167d9ad5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7167d9ad5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7167d9ad5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f7167d9ad5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7167d9ad5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7167d9ad5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7167d9ad5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7167d9ad5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f7167d9ad5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f7167d9ad5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7167d9ad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7167d9ad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7167d9ad5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7167d9ad5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f7167d9ad5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f7167d9ad5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7167d9ad5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7167d9ad5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f7167d9ad5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f7167d9ad5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f7167d9ad5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f7167d9ad5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f7167d9ad5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f7167d9ad5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f7167d9ad5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f7167d9ad5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f7167d9ad5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f7167d9ad5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f7167d9ad5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f7167d9ad5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f7167d9ad5_2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f7167d9ad5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f7167d9ad5_2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f7167d9ad5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f7167d9ad5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f7167d9ad5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f7167d9ad5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f7167d9ad5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f7167d9ad5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f7167d9ad5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f7167d9ad5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f7167d9ad5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f7167d9ad5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f7167d9ad5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pi.flutter.dev/flutter/widgets/Route-class.html" TargetMode="External"/><Relationship Id="rId4" Type="http://schemas.openxmlformats.org/officeDocument/2006/relationships/hyperlink" Target="https://api.flutter.dev/flutter/widgets/RouteSettings-class.html" TargetMode="External"/><Relationship Id="rId10" Type="http://schemas.openxmlformats.org/officeDocument/2006/relationships/hyperlink" Target="https://api.flutter.dev/flutter/widgets/OverlayEntry-class.html" TargetMode="External"/><Relationship Id="rId9" Type="http://schemas.openxmlformats.org/officeDocument/2006/relationships/hyperlink" Target="https://api.flutter.dev/flutter/widgets/OverlayEntry-class.html" TargetMode="External"/><Relationship Id="rId5" Type="http://schemas.openxmlformats.org/officeDocument/2006/relationships/hyperlink" Target="https://api.flutter.dev/flutter/widgets/Route-class.html" TargetMode="External"/><Relationship Id="rId6" Type="http://schemas.openxmlformats.org/officeDocument/2006/relationships/hyperlink" Target="https://api.flutter.dev/flutter/widgets/OverlayEntry-class.html" TargetMode="External"/><Relationship Id="rId7" Type="http://schemas.openxmlformats.org/officeDocument/2006/relationships/hyperlink" Target="https://api.flutter.dev/flutter/widgets/OverlayEntry-class.html" TargetMode="External"/><Relationship Id="rId8" Type="http://schemas.openxmlformats.org/officeDocument/2006/relationships/hyperlink" Target="https://api.flutter.dev/flutter/widgets/OverlayEntry-class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ulusoyca.medium.com/flutter-navigator-2-0-for-authentication-and-bootstrapping-part-5-web-eeb4835804df" TargetMode="External"/><Relationship Id="rId4" Type="http://schemas.openxmlformats.org/officeDocument/2006/relationships/hyperlink" Target="https://api.flutter.dev/flutter/widgets/RouteInformation/location.html" TargetMode="External"/><Relationship Id="rId9" Type="http://schemas.openxmlformats.org/officeDocument/2006/relationships/hyperlink" Target="https://api.flutter.dev/flutter/widgets/Router-class.html" TargetMode="External"/><Relationship Id="rId5" Type="http://schemas.openxmlformats.org/officeDocument/2006/relationships/hyperlink" Target="https://api.flutter.dev/flutter/widgets/RouteInformation/state.html" TargetMode="External"/><Relationship Id="rId6" Type="http://schemas.openxmlformats.org/officeDocument/2006/relationships/hyperlink" Target="https://api.flutter.dev/flutter/widgets/RouteInformation/location.html" TargetMode="External"/><Relationship Id="rId7" Type="http://schemas.openxmlformats.org/officeDocument/2006/relationships/hyperlink" Target="https://api.flutter.dev/flutter/widgets/RouteInformation/state.html" TargetMode="External"/><Relationship Id="rId8" Type="http://schemas.openxmlformats.org/officeDocument/2006/relationships/hyperlink" Target="https://ulusoyca.medium.com/flutter-navigator-2-0-for-authentication-and-bootstrapping-part-5-web-eeb4835804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pi.flutter.dev/flutter/widgets/Router-class.html" TargetMode="External"/><Relationship Id="rId4" Type="http://schemas.openxmlformats.org/officeDocument/2006/relationships/hyperlink" Target="https://api.flutter.dev/flutter/widgets/Navigator-class.html" TargetMode="External"/><Relationship Id="rId5" Type="http://schemas.openxmlformats.org/officeDocument/2006/relationships/hyperlink" Target="https://api.flutter.dev/flutter/widgets/Router-class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pi.flutter.dev/flutter/widgets/RouterDelegate-class.html" TargetMode="External"/><Relationship Id="rId4" Type="http://schemas.openxmlformats.org/officeDocument/2006/relationships/hyperlink" Target="https://api.flutter.dev/flutter/widgets/Navigator-class.html" TargetMode="External"/><Relationship Id="rId5" Type="http://schemas.openxmlformats.org/officeDocument/2006/relationships/hyperlink" Target="https://docs.google.com/document/d/1Q0jx0l4-xymph9O6zLaOY4d_f7YFpNWX_eGbzYxr9wY/edit" TargetMode="External"/><Relationship Id="rId6" Type="http://schemas.openxmlformats.org/officeDocument/2006/relationships/hyperlink" Target="https://api.flutter.dev/flutter/widgets/Router-class.html" TargetMode="External"/><Relationship Id="rId7" Type="http://schemas.openxmlformats.org/officeDocument/2006/relationships/hyperlink" Target="https://api.flutter.dev/flutter/widgets/RouterDelegate-class.html" TargetMode="External"/><Relationship Id="rId8" Type="http://schemas.openxmlformats.org/officeDocument/2006/relationships/hyperlink" Target="https://api.flutter.dev/flutter/widgets/RouterDelegate-class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pi.flutter.dev/flutter/widgets/RouterDelegate-class.html" TargetMode="External"/><Relationship Id="rId4" Type="http://schemas.openxmlformats.org/officeDocument/2006/relationships/hyperlink" Target="https://api.flutter.dev/flutter/widgets/RouterDelegate-class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pi.flutter.dev/flutter/widgets/RouteInformationParser-class.html" TargetMode="External"/><Relationship Id="rId4" Type="http://schemas.openxmlformats.org/officeDocument/2006/relationships/hyperlink" Target="https://api.flutter.dev/flutter/widgets/RouteInformationParser-class.html" TargetMode="External"/><Relationship Id="rId5" Type="http://schemas.openxmlformats.org/officeDocument/2006/relationships/hyperlink" Target="https://api.flutter.dev/flutter/widgets/RouterDelegate-class.html" TargetMode="External"/><Relationship Id="rId6" Type="http://schemas.openxmlformats.org/officeDocument/2006/relationships/hyperlink" Target="https://api.flutter.dev/flutter/widgets/Router-class.html" TargetMode="External"/><Relationship Id="rId7" Type="http://schemas.openxmlformats.org/officeDocument/2006/relationships/hyperlink" Target="https://api.flutter.dev/flutter/widgets/RouteInformationParser-class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api.flutter.dev/flutter/widgets/RouteInformationProvider-class.html" TargetMode="External"/><Relationship Id="rId4" Type="http://schemas.openxmlformats.org/officeDocument/2006/relationships/hyperlink" Target="https://api.flutter.dev/flutter/widgets/RouteInformationProvider-class.html" TargetMode="External"/><Relationship Id="rId5" Type="http://schemas.openxmlformats.org/officeDocument/2006/relationships/hyperlink" Target="https://api.flutter.dev/flutter/widgets/RouteInformationProvider-class.html" TargetMode="External"/><Relationship Id="rId6" Type="http://schemas.openxmlformats.org/officeDocument/2006/relationships/hyperlink" Target="https://api.flutter.dev/flutter/widgets/Router-class.html" TargetMode="External"/><Relationship Id="rId7" Type="http://schemas.openxmlformats.org/officeDocument/2006/relationships/hyperlink" Target="https://api.flutter.dev/flutter/widgets/Router-class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master-api.flutter.dev/flutter/widgets/BackButtonDispatcher-class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pi.flutter.dev/flutter/widgets/Router-class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avigator 2.0 Flutter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latin typeface="Pacifico"/>
                <a:ea typeface="Pacifico"/>
                <a:cs typeface="Pacifico"/>
                <a:sym typeface="Pacifico"/>
              </a:rPr>
              <a:t>CAS</a:t>
            </a:r>
            <a:endParaRPr sz="55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432100" y="866775"/>
            <a:ext cx="4978800" cy="39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FF"/>
                </a:solidFill>
              </a:rPr>
              <a:t>How does Navigator 2.0 work?</a:t>
            </a:r>
            <a:endParaRPr b="1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5EF23"/>
                </a:solidFill>
              </a:rPr>
              <a:t>Navigator 2.0 consists of two APIs:​</a:t>
            </a:r>
            <a:endParaRPr b="1" sz="2300">
              <a:solidFill>
                <a:srgbClr val="F5EF2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FF"/>
                </a:solidFill>
              </a:rPr>
              <a:t>Page API</a:t>
            </a:r>
            <a:endParaRPr b="1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FF"/>
                </a:solidFill>
              </a:rPr>
              <a:t>Router API</a:t>
            </a:r>
            <a:endParaRPr b="1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00FFFF"/>
                </a:solidFill>
              </a:rPr>
              <a:t>Page API</a:t>
            </a:r>
            <a:endParaRPr b="1" sz="60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812725" y="139400"/>
            <a:ext cx="6936000" cy="46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FF"/>
                </a:solidFill>
              </a:rPr>
              <a:t>Page API</a:t>
            </a:r>
            <a:r>
              <a:rPr lang="en" sz="2400"/>
              <a:t> </a:t>
            </a:r>
            <a:r>
              <a:rPr lang="en" sz="2400">
                <a:solidFill>
                  <a:srgbClr val="F5EF23"/>
                </a:solidFill>
              </a:rPr>
              <a:t>is a new declarative API in the navigator widgets.</a:t>
            </a:r>
            <a:r>
              <a:rPr lang="en" sz="2400"/>
              <a:t> </a:t>
            </a:r>
            <a:r>
              <a:rPr lang="en" sz="2400">
                <a:solidFill>
                  <a:srgbClr val="6DFA05"/>
                </a:solidFill>
              </a:rPr>
              <a:t>It defines the routes and the pages that are used in the app.</a:t>
            </a:r>
            <a:endParaRPr sz="2400">
              <a:solidFill>
                <a:srgbClr val="6DFA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</a:t>
            </a:r>
            <a:r>
              <a:rPr lang="en" sz="2400">
                <a:solidFill>
                  <a:srgbClr val="00FFFF"/>
                </a:solidFill>
              </a:rPr>
              <a:t>Navigator widget </a:t>
            </a:r>
            <a:r>
              <a:rPr lang="en" sz="2400"/>
              <a:t>has two new arguments passed in its constructor 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FF"/>
                </a:solidFill>
              </a:rPr>
              <a:t>pages (Page Class):</a:t>
            </a:r>
            <a:r>
              <a:rPr lang="en" sz="2400"/>
              <a:t> It is a list of pages where each page essentially describes the configuration for a Route 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FF"/>
                </a:solidFill>
              </a:rPr>
              <a:t>onPopPage:</a:t>
            </a:r>
            <a:r>
              <a:rPr lang="en" sz="2400"/>
              <a:t> A callback function for the imperative pop.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00FFFF"/>
                </a:solidFill>
              </a:rPr>
              <a:t>Page Class</a:t>
            </a:r>
            <a:endParaRPr b="1" sz="60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812725" y="195150"/>
            <a:ext cx="7467000" cy="4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​A </a:t>
            </a:r>
            <a:r>
              <a:rPr lang="en" sz="2400">
                <a:solidFill>
                  <a:srgbClr val="00FFFF"/>
                </a:solidFill>
              </a:rPr>
              <a:t>page</a:t>
            </a:r>
            <a:r>
              <a:rPr lang="en" sz="2400"/>
              <a:t> creates a </a:t>
            </a:r>
            <a:r>
              <a:rPr lang="en" sz="2400">
                <a:solidFill>
                  <a:srgbClr val="00FFFF"/>
                </a:solidFill>
              </a:rPr>
              <a:t>route</a:t>
            </a:r>
            <a:r>
              <a:rPr lang="en" sz="2400"/>
              <a:t> that gets placed on the </a:t>
            </a:r>
            <a:r>
              <a:rPr lang="en" sz="2400">
                <a:solidFill>
                  <a:srgbClr val="00FFFF"/>
                </a:solidFill>
              </a:rPr>
              <a:t>route stack</a:t>
            </a:r>
            <a:r>
              <a:rPr lang="en" sz="2400"/>
              <a:t>. Each page takes a key so that when </a:t>
            </a:r>
            <a:r>
              <a:rPr lang="en" sz="2400">
                <a:solidFill>
                  <a:srgbClr val="00FFFF"/>
                </a:solidFill>
              </a:rPr>
              <a:t>Navigator</a:t>
            </a:r>
            <a:r>
              <a:rPr lang="en" sz="2400"/>
              <a:t> uses this page to update, it could differentiate between the pages.​ </a:t>
            </a:r>
            <a:r>
              <a:rPr lang="en" sz="2400">
                <a:solidFill>
                  <a:srgbClr val="F5EF23"/>
                </a:solidFill>
              </a:rPr>
              <a:t>For instance: If the navigator already has an existing list and you give it a new list, then the associated key is used to decide if the page in the new list is corresponding to a certain page in the old list or not. Then, you can decide to update, pop, re-push or perform any action on it.</a:t>
            </a:r>
            <a:endParaRPr sz="2400">
              <a:solidFill>
                <a:srgbClr val="F5EF2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Hence, the navigator will be able to differentiate between pages.​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2725" y="308075"/>
            <a:ext cx="7591800" cy="4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FFFF"/>
                </a:solidFill>
              </a:rPr>
              <a:t>Page Navigator 2.0</a:t>
            </a:r>
            <a:r>
              <a:rPr lang="en" sz="2200"/>
              <a:t> is one of the most common type, can know from the name of its meaning is " page " as widget is the component the same, but the relationship between Page and Widget are also more subtle.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It is consistent with the concept of the </a:t>
            </a:r>
            <a:r>
              <a:rPr lang="en" sz="2200">
                <a:solidFill>
                  <a:srgbClr val="6DFA05"/>
                </a:solidFill>
              </a:rPr>
              <a:t>three trees of Widget, Element, and RenderObject in Flutter</a:t>
            </a:r>
            <a:r>
              <a:rPr lang="en" sz="2200"/>
              <a:t>. </a:t>
            </a:r>
            <a:r>
              <a:rPr lang="en" sz="2200">
                <a:solidFill>
                  <a:srgbClr val="F5EF23"/>
                </a:solidFill>
              </a:rPr>
              <a:t>Widget only saves the component configuration information, a frame built layer createElement()can be created Element instances corresponding thereto. Also saves only Page route-related information page, a frame layer there is createRoute()a method to create instances Route corresponding thereto.</a:t>
            </a:r>
            <a:endParaRPr sz="2200">
              <a:solidFill>
                <a:srgbClr val="F5EF2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0"/>
          <p:cNvGrpSpPr/>
          <p:nvPr/>
        </p:nvGrpSpPr>
        <p:grpSpPr>
          <a:xfrm>
            <a:off x="2167850" y="850300"/>
            <a:ext cx="5574775" cy="1295250"/>
            <a:chOff x="2167850" y="850300"/>
            <a:chExt cx="5574775" cy="1295250"/>
          </a:xfrm>
        </p:grpSpPr>
        <p:grpSp>
          <p:nvGrpSpPr>
            <p:cNvPr id="171" name="Google Shape;171;p20"/>
            <p:cNvGrpSpPr/>
            <p:nvPr/>
          </p:nvGrpSpPr>
          <p:grpSpPr>
            <a:xfrm>
              <a:off x="2167850" y="973550"/>
              <a:ext cx="5574775" cy="1172000"/>
              <a:chOff x="2082675" y="886050"/>
              <a:chExt cx="5574775" cy="1172000"/>
            </a:xfrm>
          </p:grpSpPr>
          <p:grpSp>
            <p:nvGrpSpPr>
              <p:cNvPr id="172" name="Google Shape;172;p20"/>
              <p:cNvGrpSpPr/>
              <p:nvPr/>
            </p:nvGrpSpPr>
            <p:grpSpPr>
              <a:xfrm>
                <a:off x="2082675" y="886050"/>
                <a:ext cx="1713000" cy="1084500"/>
                <a:chOff x="2082675" y="886050"/>
                <a:chExt cx="1713000" cy="1084500"/>
              </a:xfrm>
            </p:grpSpPr>
            <p:sp>
              <p:nvSpPr>
                <p:cNvPr id="173" name="Google Shape;173;p20"/>
                <p:cNvSpPr/>
                <p:nvPr/>
              </p:nvSpPr>
              <p:spPr>
                <a:xfrm>
                  <a:off x="2082675" y="886050"/>
                  <a:ext cx="1713000" cy="1084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00FFF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" name="Google Shape;174;p20"/>
                <p:cNvSpPr txBox="1"/>
                <p:nvPr/>
              </p:nvSpPr>
              <p:spPr>
                <a:xfrm>
                  <a:off x="2212125" y="1094300"/>
                  <a:ext cx="1454100" cy="569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500">
                      <a:latin typeface="Lato"/>
                      <a:ea typeface="Lato"/>
                      <a:cs typeface="Lato"/>
                      <a:sym typeface="Lato"/>
                    </a:rPr>
                    <a:t>Widget</a:t>
                  </a:r>
                  <a:endParaRPr b="1" sz="2500"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75" name="Google Shape;175;p20"/>
              <p:cNvSpPr/>
              <p:nvPr/>
            </p:nvSpPr>
            <p:spPr>
              <a:xfrm>
                <a:off x="4098725" y="1143600"/>
                <a:ext cx="1713000" cy="5694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FF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6" name="Google Shape;176;p20"/>
              <p:cNvGrpSpPr/>
              <p:nvPr/>
            </p:nvGrpSpPr>
            <p:grpSpPr>
              <a:xfrm>
                <a:off x="5944450" y="973550"/>
                <a:ext cx="1713000" cy="1084500"/>
                <a:chOff x="5944450" y="973550"/>
                <a:chExt cx="1713000" cy="1084500"/>
              </a:xfrm>
            </p:grpSpPr>
            <p:sp>
              <p:nvSpPr>
                <p:cNvPr id="177" name="Google Shape;177;p20"/>
                <p:cNvSpPr/>
                <p:nvPr/>
              </p:nvSpPr>
              <p:spPr>
                <a:xfrm>
                  <a:off x="5944450" y="973550"/>
                  <a:ext cx="1713000" cy="1084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00FFF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" name="Google Shape;178;p20"/>
                <p:cNvSpPr txBox="1"/>
                <p:nvPr/>
              </p:nvSpPr>
              <p:spPr>
                <a:xfrm>
                  <a:off x="6114775" y="1143600"/>
                  <a:ext cx="1454100" cy="569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500">
                      <a:latin typeface="Lato"/>
                      <a:ea typeface="Lato"/>
                      <a:cs typeface="Lato"/>
                      <a:sym typeface="Lato"/>
                    </a:rPr>
                    <a:t>Element</a:t>
                  </a:r>
                  <a:endParaRPr b="1" sz="2500"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179" name="Google Shape;179;p20"/>
            <p:cNvSpPr txBox="1"/>
            <p:nvPr/>
          </p:nvSpPr>
          <p:spPr>
            <a:xfrm>
              <a:off x="4030938" y="850300"/>
              <a:ext cx="1848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00FF"/>
                  </a:solidFill>
                  <a:latin typeface="Lato"/>
                  <a:ea typeface="Lato"/>
                  <a:cs typeface="Lato"/>
                  <a:sym typeface="Lato"/>
                </a:rPr>
                <a:t>createElement()</a:t>
              </a:r>
              <a:endParaRPr b="1" sz="17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2167850" y="2986775"/>
            <a:ext cx="5574775" cy="1295250"/>
            <a:chOff x="2167850" y="850300"/>
            <a:chExt cx="5574775" cy="1295250"/>
          </a:xfrm>
        </p:grpSpPr>
        <p:grpSp>
          <p:nvGrpSpPr>
            <p:cNvPr id="181" name="Google Shape;181;p20"/>
            <p:cNvGrpSpPr/>
            <p:nvPr/>
          </p:nvGrpSpPr>
          <p:grpSpPr>
            <a:xfrm>
              <a:off x="2167850" y="973550"/>
              <a:ext cx="5574775" cy="1172000"/>
              <a:chOff x="2082675" y="886050"/>
              <a:chExt cx="5574775" cy="1172000"/>
            </a:xfrm>
          </p:grpSpPr>
          <p:grpSp>
            <p:nvGrpSpPr>
              <p:cNvPr id="182" name="Google Shape;182;p20"/>
              <p:cNvGrpSpPr/>
              <p:nvPr/>
            </p:nvGrpSpPr>
            <p:grpSpPr>
              <a:xfrm>
                <a:off x="2082675" y="886050"/>
                <a:ext cx="1713000" cy="1084500"/>
                <a:chOff x="2082675" y="886050"/>
                <a:chExt cx="1713000" cy="1084500"/>
              </a:xfrm>
            </p:grpSpPr>
            <p:sp>
              <p:nvSpPr>
                <p:cNvPr id="183" name="Google Shape;183;p20"/>
                <p:cNvSpPr/>
                <p:nvPr/>
              </p:nvSpPr>
              <p:spPr>
                <a:xfrm>
                  <a:off x="2082675" y="886050"/>
                  <a:ext cx="1713000" cy="1084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00FFF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" name="Google Shape;184;p20"/>
                <p:cNvSpPr txBox="1"/>
                <p:nvPr/>
              </p:nvSpPr>
              <p:spPr>
                <a:xfrm>
                  <a:off x="2212125" y="1094300"/>
                  <a:ext cx="1454100" cy="569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500">
                      <a:latin typeface="Lato"/>
                      <a:ea typeface="Lato"/>
                      <a:cs typeface="Lato"/>
                      <a:sym typeface="Lato"/>
                    </a:rPr>
                    <a:t>Page</a:t>
                  </a:r>
                  <a:endParaRPr b="1" sz="2500"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85" name="Google Shape;185;p20"/>
              <p:cNvSpPr/>
              <p:nvPr/>
            </p:nvSpPr>
            <p:spPr>
              <a:xfrm>
                <a:off x="4098725" y="1143600"/>
                <a:ext cx="1713000" cy="5694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FF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6" name="Google Shape;186;p20"/>
              <p:cNvGrpSpPr/>
              <p:nvPr/>
            </p:nvGrpSpPr>
            <p:grpSpPr>
              <a:xfrm>
                <a:off x="5944450" y="973550"/>
                <a:ext cx="1713000" cy="1084500"/>
                <a:chOff x="5944450" y="973550"/>
                <a:chExt cx="1713000" cy="1084500"/>
              </a:xfrm>
            </p:grpSpPr>
            <p:sp>
              <p:nvSpPr>
                <p:cNvPr id="187" name="Google Shape;187;p20"/>
                <p:cNvSpPr/>
                <p:nvPr/>
              </p:nvSpPr>
              <p:spPr>
                <a:xfrm>
                  <a:off x="5944450" y="973550"/>
                  <a:ext cx="1713000" cy="1084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00FFF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" name="Google Shape;188;p20"/>
                <p:cNvSpPr txBox="1"/>
                <p:nvPr/>
              </p:nvSpPr>
              <p:spPr>
                <a:xfrm>
                  <a:off x="6114775" y="1143600"/>
                  <a:ext cx="1454100" cy="569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500">
                      <a:latin typeface="Lato"/>
                      <a:ea typeface="Lato"/>
                      <a:cs typeface="Lato"/>
                      <a:sym typeface="Lato"/>
                    </a:rPr>
                    <a:t>Route</a:t>
                  </a:r>
                  <a:endParaRPr b="1" sz="2500"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189" name="Google Shape;189;p20"/>
            <p:cNvSpPr txBox="1"/>
            <p:nvPr/>
          </p:nvSpPr>
          <p:spPr>
            <a:xfrm>
              <a:off x="4030938" y="850300"/>
              <a:ext cx="1848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00FF"/>
                  </a:solidFill>
                  <a:latin typeface="Lato"/>
                  <a:ea typeface="Lato"/>
                  <a:cs typeface="Lato"/>
                  <a:sym typeface="Lato"/>
                </a:rPr>
                <a:t>createRoute()</a:t>
              </a:r>
              <a:endParaRPr b="1" sz="17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90" name="Google Shape;190;p20"/>
          <p:cNvSpPr/>
          <p:nvPr/>
        </p:nvSpPr>
        <p:spPr>
          <a:xfrm>
            <a:off x="2167850" y="2419925"/>
            <a:ext cx="5574900" cy="2925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812725" y="195150"/>
            <a:ext cx="7899300" cy="46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00FFFF"/>
                </a:solidFill>
              </a:rPr>
              <a:t>Backwards Compatibility</a:t>
            </a:r>
            <a:endParaRPr sz="41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You can use </a:t>
            </a:r>
            <a:r>
              <a:rPr lang="en" sz="2700">
                <a:solidFill>
                  <a:srgbClr val="00FFFF"/>
                </a:solidFill>
              </a:rPr>
              <a:t>Page API</a:t>
            </a:r>
            <a:r>
              <a:rPr lang="en" sz="2700"/>
              <a:t> and </a:t>
            </a:r>
            <a:r>
              <a:rPr lang="en" sz="2700">
                <a:solidFill>
                  <a:srgbClr val="00FFFF"/>
                </a:solidFill>
              </a:rPr>
              <a:t>navigator</a:t>
            </a:r>
            <a:r>
              <a:rPr lang="en" sz="2700"/>
              <a:t> </a:t>
            </a:r>
            <a:r>
              <a:rPr lang="en" sz="2700">
                <a:solidFill>
                  <a:srgbClr val="F5EF23"/>
                </a:solidFill>
              </a:rPr>
              <a:t>push</a:t>
            </a:r>
            <a:r>
              <a:rPr lang="en" sz="2700"/>
              <a:t> and </a:t>
            </a:r>
            <a:r>
              <a:rPr lang="en" sz="2700">
                <a:solidFill>
                  <a:srgbClr val="F5EF23"/>
                </a:solidFill>
              </a:rPr>
              <a:t>pop</a:t>
            </a:r>
            <a:r>
              <a:rPr lang="en" sz="2700"/>
              <a:t> at the same time as </a:t>
            </a:r>
            <a:r>
              <a:rPr lang="en" sz="2700">
                <a:solidFill>
                  <a:srgbClr val="00FFFF"/>
                </a:solidFill>
              </a:rPr>
              <a:t>Page API </a:t>
            </a:r>
            <a:r>
              <a:rPr lang="en" sz="2700"/>
              <a:t>is </a:t>
            </a:r>
            <a:r>
              <a:rPr lang="en" sz="2700">
                <a:solidFill>
                  <a:srgbClr val="F5EF23"/>
                </a:solidFill>
              </a:rPr>
              <a:t>backwards compatible</a:t>
            </a:r>
            <a:r>
              <a:rPr lang="en" sz="2700"/>
              <a:t>, which also means that you can use it with imperative API.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6DFA05"/>
                </a:solidFill>
              </a:rPr>
              <a:t>Define a global key for the</a:t>
            </a:r>
            <a:r>
              <a:rPr lang="en" sz="2700"/>
              <a:t> </a:t>
            </a:r>
            <a:r>
              <a:rPr lang="en" sz="2700">
                <a:solidFill>
                  <a:srgbClr val="00FFFF"/>
                </a:solidFill>
              </a:rPr>
              <a:t>NavigatorState</a:t>
            </a:r>
            <a:r>
              <a:rPr lang="en" sz="2700"/>
              <a:t> </a:t>
            </a:r>
            <a:r>
              <a:rPr lang="en" sz="2700">
                <a:solidFill>
                  <a:srgbClr val="6DFA05"/>
                </a:solidFill>
              </a:rPr>
              <a:t>and</a:t>
            </a:r>
            <a:r>
              <a:rPr lang="en" sz="2700"/>
              <a:t> </a:t>
            </a:r>
            <a:r>
              <a:rPr lang="en" sz="2700">
                <a:solidFill>
                  <a:srgbClr val="6DFA05"/>
                </a:solidFill>
              </a:rPr>
              <a:t>use it while building the </a:t>
            </a:r>
            <a:r>
              <a:rPr lang="en" sz="2700">
                <a:solidFill>
                  <a:srgbClr val="00FFFF"/>
                </a:solidFill>
              </a:rPr>
              <a:t>Navigator</a:t>
            </a:r>
            <a:r>
              <a:rPr lang="en" sz="2700"/>
              <a:t>.​</a:t>
            </a:r>
            <a:endParaRPr sz="2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00FFFF"/>
                </a:solidFill>
              </a:rPr>
              <a:t>Router</a:t>
            </a:r>
            <a:r>
              <a:rPr b="1" lang="en" sz="6000">
                <a:solidFill>
                  <a:srgbClr val="00FFFF"/>
                </a:solidFill>
              </a:rPr>
              <a:t> API</a:t>
            </a:r>
            <a:endParaRPr b="1" sz="60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Block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5" y="1056950"/>
            <a:ext cx="8781599" cy="38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1297500" y="393750"/>
            <a:ext cx="70389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391"/>
              </a:lnSpc>
              <a:spcBef>
                <a:spcPts val="450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00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Navigator Widget</a:t>
            </a:r>
            <a:endParaRPr b="1" sz="3700">
              <a:solidFill>
                <a:srgbClr val="00FFFF"/>
              </a:solidFill>
              <a:highlight>
                <a:schemeClr val="dk1"/>
              </a:highlight>
            </a:endParaRPr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1297500" y="1129050"/>
            <a:ext cx="7038900" cy="3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Navigator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widget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is usually placed near the </a:t>
            </a:r>
            <a:r>
              <a:rPr lang="en" sz="270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top of the widget tree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r>
              <a:rPr lang="en" sz="270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It manages the routes with a stack discipline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 Each 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Route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has its own list of 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OverlayEntry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objects which are managed by the 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Overlay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Widget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of the 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Navigator</a:t>
            </a:r>
            <a:r>
              <a:rPr lang="en" sz="27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</a:t>
            </a:r>
            <a:r>
              <a:rPr lang="en" sz="27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</a:t>
            </a:r>
            <a:endParaRPr sz="27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5"/>
          <p:cNvGrpSpPr/>
          <p:nvPr/>
        </p:nvGrpSpPr>
        <p:grpSpPr>
          <a:xfrm>
            <a:off x="4066125" y="2255275"/>
            <a:ext cx="1296300" cy="2023850"/>
            <a:chOff x="4066125" y="2255275"/>
            <a:chExt cx="1296300" cy="2023850"/>
          </a:xfrm>
        </p:grpSpPr>
        <p:sp>
          <p:nvSpPr>
            <p:cNvPr id="218" name="Google Shape;218;p25"/>
            <p:cNvSpPr/>
            <p:nvPr/>
          </p:nvSpPr>
          <p:spPr>
            <a:xfrm>
              <a:off x="4066125" y="3875025"/>
              <a:ext cx="1296300" cy="404100"/>
            </a:xfrm>
            <a:prstGeom prst="roundRect">
              <a:avLst>
                <a:gd fmla="val 16667" name="adj"/>
              </a:avLst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4066125" y="3344400"/>
              <a:ext cx="1296300" cy="404100"/>
            </a:xfrm>
            <a:prstGeom prst="roundRect">
              <a:avLst>
                <a:gd fmla="val 16667" name="adj"/>
              </a:avLst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4066125" y="2813775"/>
              <a:ext cx="1296300" cy="404100"/>
            </a:xfrm>
            <a:prstGeom prst="roundRect">
              <a:avLst>
                <a:gd fmla="val 16667" name="adj"/>
              </a:avLst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4066125" y="2255275"/>
              <a:ext cx="1296300" cy="404100"/>
            </a:xfrm>
            <a:prstGeom prst="roundRect">
              <a:avLst>
                <a:gd fmla="val 16667" name="adj"/>
              </a:avLst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5"/>
          <p:cNvSpPr/>
          <p:nvPr/>
        </p:nvSpPr>
        <p:spPr>
          <a:xfrm>
            <a:off x="1266475" y="1505913"/>
            <a:ext cx="1296300" cy="404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6590150" y="1669225"/>
            <a:ext cx="1296300" cy="4041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1266475" y="437350"/>
            <a:ext cx="1491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5EF23"/>
                </a:solidFill>
                <a:latin typeface="Lato"/>
                <a:ea typeface="Lato"/>
                <a:cs typeface="Lato"/>
                <a:sym typeface="Lato"/>
              </a:rPr>
              <a:t>Push</a:t>
            </a:r>
            <a:endParaRPr b="1" sz="3500">
              <a:solidFill>
                <a:srgbClr val="F5EF2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6590150" y="651675"/>
            <a:ext cx="1491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6DFA05"/>
                </a:solidFill>
                <a:latin typeface="Lato"/>
                <a:ea typeface="Lato"/>
                <a:cs typeface="Lato"/>
                <a:sym typeface="Lato"/>
              </a:rPr>
              <a:t>Pop</a:t>
            </a:r>
            <a:endParaRPr b="1" sz="3500">
              <a:solidFill>
                <a:srgbClr val="6DFA0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2758075" y="4279125"/>
            <a:ext cx="454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STACK OF ROUTES</a:t>
            </a:r>
            <a:endParaRPr b="1" sz="35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25"/>
          <p:cNvSpPr/>
          <p:nvPr/>
        </p:nvSpPr>
        <p:spPr>
          <a:xfrm rot="3107731">
            <a:off x="2638409" y="1064266"/>
            <a:ext cx="1491585" cy="91003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5EF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 rot="691">
            <a:off x="5024774" y="949810"/>
            <a:ext cx="1491600" cy="910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6DFA0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3523013" y="0"/>
            <a:ext cx="230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Navigator</a:t>
            </a:r>
            <a:endParaRPr b="1" sz="35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25"/>
          <p:cNvSpPr/>
          <p:nvPr/>
        </p:nvSpPr>
        <p:spPr>
          <a:xfrm rot="-971945">
            <a:off x="2512257" y="381053"/>
            <a:ext cx="1023745" cy="40396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 rot="-9517355">
            <a:off x="5685067" y="381022"/>
            <a:ext cx="1023841" cy="40401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Route</a:t>
            </a:r>
            <a:r>
              <a:rPr lang="en" sz="26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6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is not a widget. It is an entry managed by the </a:t>
            </a:r>
            <a:r>
              <a:rPr lang="en" sz="22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Navigator</a:t>
            </a:r>
            <a:r>
              <a:rPr lang="en" sz="26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</a:t>
            </a:r>
            <a:r>
              <a:rPr lang="en" sz="26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</a:t>
            </a:r>
            <a:endParaRPr sz="3000">
              <a:highlight>
                <a:schemeClr val="dk1"/>
              </a:highlight>
            </a:endParaRPr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292725" y="1567550"/>
            <a:ext cx="8182200" cy="3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5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Two types of</a:t>
            </a:r>
            <a:r>
              <a:rPr lang="en" sz="195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58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</a:t>
            </a:r>
            <a:r>
              <a:rPr lang="en" sz="195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: </a:t>
            </a:r>
            <a:r>
              <a:rPr lang="en" sz="195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routes that replace entire screen on transition</a:t>
            </a:r>
            <a:r>
              <a:rPr lang="en" sz="195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lang="en" sz="195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pop up routes whose widgets overlay on the previous route</a:t>
            </a:r>
            <a:endParaRPr sz="1950">
              <a:solidFill>
                <a:srgbClr val="6DFA05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5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Routes can have </a:t>
            </a:r>
            <a:r>
              <a:rPr lang="en" sz="158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RouteSettings</a:t>
            </a:r>
            <a:r>
              <a:rPr lang="en" sz="195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object which might have a </a:t>
            </a:r>
            <a:r>
              <a:rPr lang="en" sz="158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95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(</a:t>
            </a:r>
            <a:r>
              <a:rPr lang="en" sz="195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otherwise anonymous</a:t>
            </a:r>
            <a:r>
              <a:rPr lang="en" sz="195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) and </a:t>
            </a:r>
            <a:r>
              <a:rPr lang="en" sz="158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arguments</a:t>
            </a:r>
            <a:r>
              <a:rPr lang="en" sz="195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which is sometimes useful.</a:t>
            </a:r>
            <a:endParaRPr sz="1950"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872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As mentioned before, each </a:t>
            </a:r>
            <a:r>
              <a:rPr lang="en" sz="1502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</a:t>
            </a:r>
            <a:r>
              <a:rPr lang="en" sz="1872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has its own list of </a:t>
            </a:r>
            <a:r>
              <a:rPr lang="en" sz="1502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OverlayEntry</a:t>
            </a:r>
            <a:r>
              <a:rPr lang="en" sz="1872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872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objects. Let’s say we have a tab bar or bottom navigation bar on our home page. If we add an </a:t>
            </a:r>
            <a:r>
              <a:rPr lang="en" sz="1502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OverlayEntry</a:t>
            </a:r>
            <a:r>
              <a:rPr lang="en" sz="1872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in one of the tabs, it will still be visible when you switch between tabs because the </a:t>
            </a:r>
            <a:r>
              <a:rPr lang="en" sz="1502" u="sng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OverlayEntry</a:t>
            </a:r>
            <a:r>
              <a:rPr lang="en" sz="1872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is added to the current route’s </a:t>
            </a:r>
            <a:r>
              <a:rPr lang="en" sz="1502" u="sng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OverlayEntry</a:t>
            </a:r>
            <a:r>
              <a:rPr lang="en" sz="1872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list on the top of the home screen. We should either add and remove the </a:t>
            </a:r>
            <a:r>
              <a:rPr lang="en" sz="1502" u="sng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10"/>
              </a:rPr>
              <a:t>OverlayEntry</a:t>
            </a:r>
            <a:r>
              <a:rPr lang="en" sz="1872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when we switch between tabs or have a separate route for each tab in the home screen.</a:t>
            </a:r>
            <a:endParaRPr sz="2242"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/>
        </p:nvSpPr>
        <p:spPr>
          <a:xfrm>
            <a:off x="3064725" y="1863500"/>
            <a:ext cx="206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Modal </a:t>
            </a:r>
            <a:r>
              <a:rPr b="1" lang="en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Route</a:t>
            </a:r>
            <a:endParaRPr b="1" sz="22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4084413" y="2626950"/>
            <a:ext cx="206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Popup </a:t>
            </a:r>
            <a:r>
              <a:rPr b="1" lang="en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Route</a:t>
            </a:r>
            <a:endParaRPr b="1" sz="22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44" name="Google Shape;244;p27"/>
          <p:cNvGrpSpPr/>
          <p:nvPr/>
        </p:nvGrpSpPr>
        <p:grpSpPr>
          <a:xfrm>
            <a:off x="6858925" y="3380575"/>
            <a:ext cx="2580600" cy="652850"/>
            <a:chOff x="6858925" y="3380575"/>
            <a:chExt cx="2580600" cy="652850"/>
          </a:xfrm>
        </p:grpSpPr>
        <p:sp>
          <p:nvSpPr>
            <p:cNvPr id="245" name="Google Shape;245;p27"/>
            <p:cNvSpPr txBox="1"/>
            <p:nvPr/>
          </p:nvSpPr>
          <p:spPr>
            <a:xfrm>
              <a:off x="7012250" y="3380575"/>
              <a:ext cx="2064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Dialog </a:t>
              </a:r>
              <a:r>
                <a:rPr b="1" lang="en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Route</a:t>
              </a:r>
              <a:endParaRPr b="1" sz="1600">
                <a:solidFill>
                  <a:srgbClr val="F5EF2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6" name="Google Shape;246;p27"/>
            <p:cNvSpPr txBox="1"/>
            <p:nvPr/>
          </p:nvSpPr>
          <p:spPr>
            <a:xfrm>
              <a:off x="6858925" y="3602325"/>
              <a:ext cx="2580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CupertinoDialog</a:t>
              </a:r>
              <a:r>
                <a:rPr b="1" lang="en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lang="en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Route</a:t>
              </a:r>
              <a:endParaRPr b="1" sz="1600">
                <a:solidFill>
                  <a:srgbClr val="F5EF2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7" name="Google Shape;247;p27"/>
          <p:cNvGrpSpPr/>
          <p:nvPr/>
        </p:nvGrpSpPr>
        <p:grpSpPr>
          <a:xfrm>
            <a:off x="7012250" y="4032950"/>
            <a:ext cx="2064000" cy="1053525"/>
            <a:chOff x="7012250" y="4032950"/>
            <a:chExt cx="2064000" cy="1053525"/>
          </a:xfrm>
        </p:grpSpPr>
        <p:sp>
          <p:nvSpPr>
            <p:cNvPr id="248" name="Google Shape;248;p27"/>
            <p:cNvSpPr txBox="1"/>
            <p:nvPr/>
          </p:nvSpPr>
          <p:spPr>
            <a:xfrm>
              <a:off x="7012250" y="4255175"/>
              <a:ext cx="2064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ShowDialog()</a:t>
              </a:r>
              <a:endParaRPr b="1">
                <a:solidFill>
                  <a:srgbClr val="F5EF2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ShowCupertinoDialog()</a:t>
              </a:r>
              <a:endParaRPr b="1">
                <a:solidFill>
                  <a:srgbClr val="F5EF2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rPr>
                <a:t>ShowGeneralDialog()</a:t>
              </a:r>
              <a:endParaRPr b="1">
                <a:solidFill>
                  <a:srgbClr val="F5EF2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7680400" y="4032950"/>
              <a:ext cx="153000" cy="2742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27"/>
          <p:cNvSpPr/>
          <p:nvPr/>
        </p:nvSpPr>
        <p:spPr>
          <a:xfrm rot="-3135192">
            <a:off x="6564393" y="3397384"/>
            <a:ext cx="152898" cy="580623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27"/>
          <p:cNvGrpSpPr/>
          <p:nvPr/>
        </p:nvGrpSpPr>
        <p:grpSpPr>
          <a:xfrm>
            <a:off x="80800" y="3738258"/>
            <a:ext cx="2316600" cy="1348217"/>
            <a:chOff x="80800" y="3738258"/>
            <a:chExt cx="2316600" cy="1348217"/>
          </a:xfrm>
        </p:grpSpPr>
        <p:grpSp>
          <p:nvGrpSpPr>
            <p:cNvPr id="252" name="Google Shape;252;p27"/>
            <p:cNvGrpSpPr/>
            <p:nvPr/>
          </p:nvGrpSpPr>
          <p:grpSpPr>
            <a:xfrm>
              <a:off x="80800" y="4032950"/>
              <a:ext cx="2316600" cy="1053525"/>
              <a:chOff x="80800" y="4032950"/>
              <a:chExt cx="2316600" cy="1053525"/>
            </a:xfrm>
          </p:grpSpPr>
          <p:sp>
            <p:nvSpPr>
              <p:cNvPr id="253" name="Google Shape;253;p27"/>
              <p:cNvSpPr txBox="1"/>
              <p:nvPr/>
            </p:nvSpPr>
            <p:spPr>
              <a:xfrm>
                <a:off x="80800" y="4655375"/>
                <a:ext cx="20640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5EF23"/>
                    </a:solidFill>
                    <a:latin typeface="Lato"/>
                    <a:ea typeface="Lato"/>
                    <a:cs typeface="Lato"/>
                    <a:sym typeface="Lato"/>
                  </a:rPr>
                  <a:t>Page</a:t>
                </a:r>
                <a:r>
                  <a:rPr b="1" lang="en" sz="1600">
                    <a:solidFill>
                      <a:srgbClr val="F5EF23"/>
                    </a:solidFill>
                    <a:latin typeface="Lato"/>
                    <a:ea typeface="Lato"/>
                    <a:cs typeface="Lato"/>
                    <a:sym typeface="Lato"/>
                  </a:rPr>
                  <a:t>RouteBuilder</a:t>
                </a:r>
                <a:endParaRPr b="1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4" name="Google Shape;254;p27"/>
              <p:cNvSpPr txBox="1"/>
              <p:nvPr/>
            </p:nvSpPr>
            <p:spPr>
              <a:xfrm>
                <a:off x="80800" y="4376875"/>
                <a:ext cx="2316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5EF23"/>
                    </a:solidFill>
                    <a:latin typeface="Lato"/>
                    <a:ea typeface="Lato"/>
                    <a:cs typeface="Lato"/>
                    <a:sym typeface="Lato"/>
                  </a:rPr>
                  <a:t>CupertinoPage</a:t>
                </a:r>
                <a:r>
                  <a:rPr b="1" lang="en" sz="1600">
                    <a:solidFill>
                      <a:srgbClr val="F5EF23"/>
                    </a:solidFill>
                    <a:latin typeface="Lato"/>
                    <a:ea typeface="Lato"/>
                    <a:cs typeface="Lato"/>
                    <a:sym typeface="Lato"/>
                  </a:rPr>
                  <a:t>Route</a:t>
                </a:r>
                <a:endParaRPr b="1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5" name="Google Shape;255;p27"/>
              <p:cNvSpPr txBox="1"/>
              <p:nvPr/>
            </p:nvSpPr>
            <p:spPr>
              <a:xfrm>
                <a:off x="80800" y="4032950"/>
                <a:ext cx="20640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5EF23"/>
                    </a:solidFill>
                    <a:latin typeface="Lato"/>
                    <a:ea typeface="Lato"/>
                    <a:cs typeface="Lato"/>
                    <a:sym typeface="Lato"/>
                  </a:rPr>
                  <a:t>MaterialPage</a:t>
                </a:r>
                <a:r>
                  <a:rPr b="1" lang="en" sz="1600">
                    <a:solidFill>
                      <a:srgbClr val="F5EF23"/>
                    </a:solidFill>
                    <a:latin typeface="Lato"/>
                    <a:ea typeface="Lato"/>
                    <a:cs typeface="Lato"/>
                    <a:sym typeface="Lato"/>
                  </a:rPr>
                  <a:t> Route</a:t>
                </a:r>
                <a:endParaRPr b="1" sz="1600">
                  <a:solidFill>
                    <a:srgbClr val="F5EF23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56" name="Google Shape;256;p27"/>
            <p:cNvSpPr/>
            <p:nvPr/>
          </p:nvSpPr>
          <p:spPr>
            <a:xfrm rot="2106931">
              <a:off x="864203" y="3780125"/>
              <a:ext cx="250858" cy="331766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27"/>
          <p:cNvSpPr/>
          <p:nvPr/>
        </p:nvSpPr>
        <p:spPr>
          <a:xfrm rot="3088567">
            <a:off x="2457782" y="2488030"/>
            <a:ext cx="236979" cy="83547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7"/>
          <p:cNvGrpSpPr/>
          <p:nvPr/>
        </p:nvGrpSpPr>
        <p:grpSpPr>
          <a:xfrm>
            <a:off x="1110475" y="3079125"/>
            <a:ext cx="2931600" cy="938613"/>
            <a:chOff x="1110475" y="3079125"/>
            <a:chExt cx="2931600" cy="938613"/>
          </a:xfrm>
        </p:grpSpPr>
        <p:sp>
          <p:nvSpPr>
            <p:cNvPr id="259" name="Google Shape;259;p27"/>
            <p:cNvSpPr txBox="1"/>
            <p:nvPr/>
          </p:nvSpPr>
          <p:spPr>
            <a:xfrm>
              <a:off x="1154900" y="3079125"/>
              <a:ext cx="2064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Page </a:t>
              </a: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Route</a:t>
              </a:r>
              <a:endParaRPr b="1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0" name="Google Shape;260;p27"/>
            <p:cNvSpPr txBox="1"/>
            <p:nvPr/>
          </p:nvSpPr>
          <p:spPr>
            <a:xfrm>
              <a:off x="1110475" y="3617538"/>
              <a:ext cx="293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r>
                <a:rPr b="1" lang="en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oute that replaces entire screen</a:t>
              </a:r>
              <a:endParaRPr b="1">
                <a:solidFill>
                  <a:srgbClr val="6DFA0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1" name="Google Shape;261;p27"/>
          <p:cNvGrpSpPr/>
          <p:nvPr/>
        </p:nvGrpSpPr>
        <p:grpSpPr>
          <a:xfrm>
            <a:off x="4056100" y="2995675"/>
            <a:ext cx="4452100" cy="782875"/>
            <a:chOff x="4056100" y="2995675"/>
            <a:chExt cx="4452100" cy="782875"/>
          </a:xfrm>
        </p:grpSpPr>
        <p:sp>
          <p:nvSpPr>
            <p:cNvPr id="262" name="Google Shape;262;p27"/>
            <p:cNvSpPr txBox="1"/>
            <p:nvPr/>
          </p:nvSpPr>
          <p:spPr>
            <a:xfrm>
              <a:off x="4056100" y="3255350"/>
              <a:ext cx="278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Raw Dialog </a:t>
              </a: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Route</a:t>
              </a:r>
              <a:endParaRPr b="1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4836850" y="3026875"/>
              <a:ext cx="348600" cy="3318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 txBox="1"/>
            <p:nvPr/>
          </p:nvSpPr>
          <p:spPr>
            <a:xfrm>
              <a:off x="5282900" y="2995675"/>
              <a:ext cx="32253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Route that Overlay entire screen</a:t>
              </a:r>
              <a:endParaRPr b="1" sz="1300">
                <a:solidFill>
                  <a:srgbClr val="6DFA0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65" name="Google Shape;265;p27"/>
          <p:cNvSpPr txBox="1"/>
          <p:nvPr/>
        </p:nvSpPr>
        <p:spPr>
          <a:xfrm>
            <a:off x="2801925" y="2222263"/>
            <a:ext cx="462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DFA05"/>
                </a:solidFill>
                <a:latin typeface="Lato"/>
                <a:ea typeface="Lato"/>
                <a:cs typeface="Lato"/>
                <a:sym typeface="Lato"/>
              </a:rPr>
              <a:t>Abstraction for blocking interaction with previous route</a:t>
            </a:r>
            <a:endParaRPr b="1" sz="1300">
              <a:solidFill>
                <a:srgbClr val="6DFA0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7"/>
          <p:cNvSpPr/>
          <p:nvPr/>
        </p:nvSpPr>
        <p:spPr>
          <a:xfrm rot="-2090246">
            <a:off x="3868050" y="2613195"/>
            <a:ext cx="236849" cy="34911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27"/>
          <p:cNvGrpSpPr/>
          <p:nvPr/>
        </p:nvGrpSpPr>
        <p:grpSpPr>
          <a:xfrm>
            <a:off x="2851225" y="1279350"/>
            <a:ext cx="4629000" cy="726038"/>
            <a:chOff x="2851225" y="1279350"/>
            <a:chExt cx="4629000" cy="726038"/>
          </a:xfrm>
        </p:grpSpPr>
        <p:sp>
          <p:nvSpPr>
            <p:cNvPr id="268" name="Google Shape;268;p27"/>
            <p:cNvSpPr txBox="1"/>
            <p:nvPr/>
          </p:nvSpPr>
          <p:spPr>
            <a:xfrm>
              <a:off x="2977075" y="1279350"/>
              <a:ext cx="258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Transition </a:t>
              </a: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Route</a:t>
              </a:r>
              <a:endParaRPr b="1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9" name="Google Shape;269;p27"/>
            <p:cNvSpPr txBox="1"/>
            <p:nvPr/>
          </p:nvSpPr>
          <p:spPr>
            <a:xfrm>
              <a:off x="2851225" y="1620488"/>
              <a:ext cx="4629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Abstraction for push and pop animation</a:t>
              </a:r>
              <a:endParaRPr b="1" sz="1300">
                <a:solidFill>
                  <a:srgbClr val="6DFA0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70" name="Google Shape;270;p27"/>
          <p:cNvGrpSpPr/>
          <p:nvPr/>
        </p:nvGrpSpPr>
        <p:grpSpPr>
          <a:xfrm>
            <a:off x="2801925" y="647888"/>
            <a:ext cx="4629000" cy="728838"/>
            <a:chOff x="2801925" y="647888"/>
            <a:chExt cx="4629000" cy="728838"/>
          </a:xfrm>
        </p:grpSpPr>
        <p:sp>
          <p:nvSpPr>
            <p:cNvPr id="271" name="Google Shape;271;p27"/>
            <p:cNvSpPr txBox="1"/>
            <p:nvPr/>
          </p:nvSpPr>
          <p:spPr>
            <a:xfrm>
              <a:off x="2954475" y="647888"/>
              <a:ext cx="2064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Overlay </a:t>
              </a: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Route</a:t>
              </a:r>
              <a:endParaRPr b="1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2" name="Google Shape;272;p27"/>
            <p:cNvSpPr txBox="1"/>
            <p:nvPr/>
          </p:nvSpPr>
          <p:spPr>
            <a:xfrm>
              <a:off x="2801925" y="991825"/>
              <a:ext cx="4629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Abstraction for interaction with navigator’s overlay</a:t>
              </a:r>
              <a:endParaRPr b="1" sz="1300">
                <a:solidFill>
                  <a:srgbClr val="6DFA0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73" name="Google Shape;273;p27"/>
          <p:cNvGrpSpPr/>
          <p:nvPr/>
        </p:nvGrpSpPr>
        <p:grpSpPr>
          <a:xfrm>
            <a:off x="2801925" y="-18150"/>
            <a:ext cx="4629000" cy="850900"/>
            <a:chOff x="2801925" y="-18150"/>
            <a:chExt cx="4629000" cy="850900"/>
          </a:xfrm>
        </p:grpSpPr>
        <p:sp>
          <p:nvSpPr>
            <p:cNvPr id="274" name="Google Shape;274;p27"/>
            <p:cNvSpPr txBox="1"/>
            <p:nvPr/>
          </p:nvSpPr>
          <p:spPr>
            <a:xfrm>
              <a:off x="3428150" y="-18150"/>
              <a:ext cx="1128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Route</a:t>
              </a:r>
              <a:endParaRPr b="1" sz="22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5" name="Google Shape;275;p27"/>
            <p:cNvSpPr txBox="1"/>
            <p:nvPr/>
          </p:nvSpPr>
          <p:spPr>
            <a:xfrm>
              <a:off x="2801925" y="447850"/>
              <a:ext cx="4629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Abstraction for </a:t>
              </a:r>
              <a:r>
                <a:rPr b="1" lang="en" sz="1300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entry</a:t>
              </a:r>
              <a:r>
                <a:rPr b="1" lang="en" sz="1300">
                  <a:solidFill>
                    <a:srgbClr val="6DFA05"/>
                  </a:solidFill>
                  <a:latin typeface="Lato"/>
                  <a:ea typeface="Lato"/>
                  <a:cs typeface="Lato"/>
                  <a:sym typeface="Lato"/>
                </a:rPr>
                <a:t> in navigator</a:t>
              </a:r>
              <a:endParaRPr b="1" sz="1300">
                <a:solidFill>
                  <a:srgbClr val="6DFA0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7391"/>
              </a:lnSpc>
              <a:spcBef>
                <a:spcPts val="4500"/>
              </a:spcBef>
              <a:spcAft>
                <a:spcPts val="0"/>
              </a:spcAft>
              <a:buNone/>
            </a:pPr>
            <a:r>
              <a:rPr lang="en" sz="4916">
                <a:solidFill>
                  <a:srgbClr val="00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Route Information</a:t>
            </a:r>
            <a:endParaRPr sz="4916">
              <a:solidFill>
                <a:srgbClr val="00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 txBox="1"/>
          <p:nvPr>
            <p:ph idx="1" type="body"/>
          </p:nvPr>
        </p:nvSpPr>
        <p:spPr>
          <a:xfrm>
            <a:off x="69700" y="1463600"/>
            <a:ext cx="8921100" cy="3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8181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RouteInformation</a:t>
            </a:r>
            <a:r>
              <a:rPr b="1" lang="en" sz="20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0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is a data holder that contains information for a route. It has two fields: </a:t>
            </a:r>
            <a:r>
              <a:rPr lang="en" sz="16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</a:t>
            </a:r>
            <a:r>
              <a:rPr lang="en" sz="20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lang="en" sz="16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state</a:t>
            </a:r>
            <a:r>
              <a:rPr lang="en" sz="20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. The </a:t>
            </a:r>
            <a:r>
              <a:rPr lang="en" sz="16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</a:t>
            </a:r>
            <a:r>
              <a:rPr lang="en" sz="20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00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field is equivalent to a URL</a:t>
            </a:r>
            <a:r>
              <a:rPr lang="en" sz="20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string and </a:t>
            </a:r>
            <a:r>
              <a:rPr lang="en" sz="16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state</a:t>
            </a:r>
            <a:r>
              <a:rPr lang="en" sz="20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00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field holds information about the application’s state for that route.</a:t>
            </a:r>
            <a:endParaRPr sz="2000">
              <a:solidFill>
                <a:srgbClr val="6DFA05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8181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RouteInformation</a:t>
            </a:r>
            <a:r>
              <a:rPr lang="en" sz="20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00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object is internally used in the </a:t>
            </a:r>
            <a:r>
              <a:rPr lang="en" sz="1600" u="sng">
                <a:solidFill>
                  <a:srgbClr val="F5EF23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200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 to communicate with the OS.</a:t>
            </a:r>
            <a:endParaRPr sz="1700">
              <a:solidFill>
                <a:srgbClr val="F5EF23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7391"/>
              </a:lnSpc>
              <a:spcBef>
                <a:spcPts val="4500"/>
              </a:spcBef>
              <a:spcAft>
                <a:spcPts val="0"/>
              </a:spcAft>
              <a:buNone/>
            </a:pPr>
            <a:r>
              <a:rPr lang="en" sz="4550">
                <a:solidFill>
                  <a:srgbClr val="00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Router Widget</a:t>
            </a:r>
            <a:endParaRPr sz="4700">
              <a:solidFill>
                <a:srgbClr val="00FFFF"/>
              </a:solidFill>
              <a:highlight>
                <a:schemeClr val="dk1"/>
              </a:highlight>
            </a:endParaRPr>
          </a:p>
        </p:txBody>
      </p:sp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153325" y="1307850"/>
            <a:ext cx="8600400" cy="3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18181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2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</a:t>
            </a:r>
            <a:r>
              <a:rPr lang="en" sz="22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8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22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200" u="sng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widget</a:t>
            </a:r>
            <a:r>
              <a:rPr lang="en" sz="220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is the brain of the navigation</a:t>
            </a:r>
            <a:r>
              <a:rPr lang="en" sz="22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 It wraps the </a:t>
            </a:r>
            <a:r>
              <a:rPr lang="en" sz="18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Navigator</a:t>
            </a:r>
            <a:r>
              <a:rPr lang="en" sz="22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2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widget and configures the navigation history based on user interaction with the app, system back button press, initial route on app launch, and new intents by the operating system (OS).</a:t>
            </a:r>
            <a:endParaRPr sz="2200"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18181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lang="en" sz="21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25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 delegates its tasks to its components that are</a:t>
            </a:r>
            <a:endParaRPr sz="3100"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111500" y="1435725"/>
            <a:ext cx="8934600" cy="3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SzPts val="605"/>
              <a:buNone/>
            </a:pPr>
            <a:r>
              <a:rPr lang="en" sz="206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RouterDelegate</a:t>
            </a:r>
            <a:r>
              <a:rPr lang="en" sz="228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is</a:t>
            </a:r>
            <a:r>
              <a:rPr lang="en" sz="228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responsible for building the</a:t>
            </a:r>
            <a:r>
              <a:rPr lang="en" sz="228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06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Navigator</a:t>
            </a:r>
            <a:r>
              <a:rPr lang="en" sz="228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</a:t>
            </a:r>
            <a:r>
              <a:rPr lang="en" sz="228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according the app state and handling the pop requests. According to the </a:t>
            </a:r>
            <a:r>
              <a:rPr lang="en" sz="2280" u="sng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Flutter team</a:t>
            </a:r>
            <a:r>
              <a:rPr lang="en" sz="228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, this delegate is the heart of the </a:t>
            </a:r>
            <a:r>
              <a:rPr lang="en" sz="2060" u="sng">
                <a:solidFill>
                  <a:srgbClr val="F5EF23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228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</a:t>
            </a:r>
            <a:r>
              <a:rPr lang="en" sz="228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r>
              <a:rPr lang="en" sz="228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 most important component of the Router widget is the</a:t>
            </a:r>
            <a:r>
              <a:rPr lang="en" sz="228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28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RouterDelegate class </a:t>
            </a:r>
            <a:r>
              <a:rPr lang="en" sz="228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since it tells to the Router widget how to build the Navigator widget.</a:t>
            </a:r>
            <a:endParaRPr sz="1480"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15">
              <a:highlight>
                <a:schemeClr val="dk1"/>
              </a:highlight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1547225" y="460000"/>
            <a:ext cx="68301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lang="en" sz="3160">
                <a:solidFill>
                  <a:srgbClr val="00FFFF"/>
                </a:solidFill>
                <a:highlight>
                  <a:schemeClr val="dk1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316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160">
                <a:solidFill>
                  <a:srgbClr val="00FFFF"/>
                </a:solidFill>
                <a:highlight>
                  <a:schemeClr val="dk1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Delegate</a:t>
            </a:r>
            <a:endParaRPr sz="25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lang="en" sz="3160">
                <a:solidFill>
                  <a:srgbClr val="00FFFF"/>
                </a:solidFill>
                <a:highlight>
                  <a:schemeClr val="dk1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3160">
                <a:solidFill>
                  <a:srgbClr val="0000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160">
                <a:solidFill>
                  <a:srgbClr val="00FFFF"/>
                </a:solidFill>
                <a:highlight>
                  <a:schemeClr val="dk1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Delegate</a:t>
            </a:r>
            <a:endParaRPr/>
          </a:p>
        </p:txBody>
      </p:sp>
      <p:sp>
        <p:nvSpPr>
          <p:cNvPr id="299" name="Google Shape;299;p31"/>
          <p:cNvSpPr txBox="1"/>
          <p:nvPr>
            <p:ph idx="1" type="body"/>
          </p:nvPr>
        </p:nvSpPr>
        <p:spPr>
          <a:xfrm>
            <a:off x="1129050" y="1115125"/>
            <a:ext cx="7736100" cy="39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FFFF"/>
                </a:solidFill>
              </a:rPr>
              <a:t>Navigator 2.0 API </a:t>
            </a:r>
            <a:r>
              <a:rPr lang="en" sz="2000"/>
              <a:t>and the </a:t>
            </a:r>
            <a:r>
              <a:rPr lang="en" sz="2000">
                <a:solidFill>
                  <a:srgbClr val="00FFFF"/>
                </a:solidFill>
              </a:rPr>
              <a:t>Router widget</a:t>
            </a:r>
            <a:r>
              <a:rPr lang="en" sz="2000"/>
              <a:t>, our responsibility is customizing the </a:t>
            </a:r>
            <a:r>
              <a:rPr lang="en" sz="2000">
                <a:solidFill>
                  <a:srgbClr val="00FFFF"/>
                </a:solidFill>
              </a:rPr>
              <a:t>RouterDelegate</a:t>
            </a:r>
            <a:r>
              <a:rPr lang="en" sz="2000"/>
              <a:t> to implement the navigation logic.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The </a:t>
            </a:r>
            <a:r>
              <a:rPr lang="en" sz="2000">
                <a:solidFill>
                  <a:srgbClr val="00FFFF"/>
                </a:solidFill>
              </a:rPr>
              <a:t>RouterDelegate </a:t>
            </a:r>
            <a:r>
              <a:rPr lang="en" sz="2000"/>
              <a:t>class implements </a:t>
            </a:r>
            <a:r>
              <a:rPr lang="en" sz="2000">
                <a:solidFill>
                  <a:srgbClr val="00FFFF"/>
                </a:solidFill>
              </a:rPr>
              <a:t>ChangeNotifier mixin</a:t>
            </a:r>
            <a:r>
              <a:rPr lang="en" sz="2000"/>
              <a:t> which makes itself listenable. Calling the notifyListeners method inside </a:t>
            </a:r>
            <a:r>
              <a:rPr lang="en" sz="2000">
                <a:solidFill>
                  <a:srgbClr val="00FFFF"/>
                </a:solidFill>
              </a:rPr>
              <a:t>RouterDelegate</a:t>
            </a:r>
            <a:r>
              <a:rPr lang="en" sz="2000"/>
              <a:t> will notify the Router widget.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DFA05"/>
                </a:solidFill>
              </a:rPr>
              <a:t>After being notified, the Router calls the build() method of the RouterDelegate .</a:t>
            </a:r>
            <a:endParaRPr sz="2000">
              <a:solidFill>
                <a:srgbClr val="6DFA0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00FFFF"/>
                </a:solidFill>
              </a:rPr>
              <a:t>RouterDelegate</a:t>
            </a:r>
            <a:r>
              <a:rPr lang="en" sz="2000">
                <a:solidFill>
                  <a:srgbClr val="F5EF23"/>
                </a:solidFill>
              </a:rPr>
              <a:t> constructs and returns a Navigator widget to the Router within the build() method.</a:t>
            </a:r>
            <a:endParaRPr sz="2000">
              <a:solidFill>
                <a:srgbClr val="F5EF2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32"/>
          <p:cNvGrpSpPr/>
          <p:nvPr/>
        </p:nvGrpSpPr>
        <p:grpSpPr>
          <a:xfrm>
            <a:off x="878200" y="146500"/>
            <a:ext cx="2815800" cy="4760025"/>
            <a:chOff x="878200" y="146500"/>
            <a:chExt cx="2815800" cy="4760025"/>
          </a:xfrm>
        </p:grpSpPr>
        <p:sp>
          <p:nvSpPr>
            <p:cNvPr id="305" name="Google Shape;305;p32"/>
            <p:cNvSpPr/>
            <p:nvPr/>
          </p:nvSpPr>
          <p:spPr>
            <a:xfrm>
              <a:off x="1616925" y="933925"/>
              <a:ext cx="320700" cy="3972600"/>
            </a:xfrm>
            <a:prstGeom prst="rect">
              <a:avLst/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2"/>
            <p:cNvSpPr txBox="1"/>
            <p:nvPr/>
          </p:nvSpPr>
          <p:spPr>
            <a:xfrm>
              <a:off x="878200" y="146500"/>
              <a:ext cx="2815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Router Delegate</a:t>
              </a:r>
              <a:endParaRPr b="1" sz="26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7" name="Google Shape;307;p32"/>
          <p:cNvGrpSpPr/>
          <p:nvPr/>
        </p:nvGrpSpPr>
        <p:grpSpPr>
          <a:xfrm>
            <a:off x="7044825" y="146500"/>
            <a:ext cx="1534200" cy="4760025"/>
            <a:chOff x="7044825" y="146500"/>
            <a:chExt cx="1534200" cy="4760025"/>
          </a:xfrm>
        </p:grpSpPr>
        <p:sp>
          <p:nvSpPr>
            <p:cNvPr id="308" name="Google Shape;308;p32"/>
            <p:cNvSpPr/>
            <p:nvPr/>
          </p:nvSpPr>
          <p:spPr>
            <a:xfrm>
              <a:off x="7575425" y="933925"/>
              <a:ext cx="320700" cy="3972600"/>
            </a:xfrm>
            <a:prstGeom prst="rect">
              <a:avLst/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2"/>
            <p:cNvSpPr txBox="1"/>
            <p:nvPr/>
          </p:nvSpPr>
          <p:spPr>
            <a:xfrm>
              <a:off x="7044825" y="146500"/>
              <a:ext cx="1534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Router </a:t>
              </a:r>
              <a:endParaRPr b="1" sz="26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0" name="Google Shape;310;p32"/>
          <p:cNvGrpSpPr/>
          <p:nvPr/>
        </p:nvGrpSpPr>
        <p:grpSpPr>
          <a:xfrm>
            <a:off x="2821425" y="850725"/>
            <a:ext cx="4223400" cy="989100"/>
            <a:chOff x="3080525" y="794975"/>
            <a:chExt cx="4223400" cy="989100"/>
          </a:xfrm>
        </p:grpSpPr>
        <p:sp>
          <p:nvSpPr>
            <p:cNvPr id="311" name="Google Shape;311;p32"/>
            <p:cNvSpPr/>
            <p:nvPr/>
          </p:nvSpPr>
          <p:spPr>
            <a:xfrm>
              <a:off x="3080525" y="1379975"/>
              <a:ext cx="4223400" cy="404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2"/>
            <p:cNvSpPr txBox="1"/>
            <p:nvPr/>
          </p:nvSpPr>
          <p:spPr>
            <a:xfrm>
              <a:off x="3230150" y="794975"/>
              <a:ext cx="2815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Notify Changed</a:t>
              </a:r>
              <a:endParaRPr b="1" sz="26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3" name="Google Shape;313;p32"/>
          <p:cNvGrpSpPr/>
          <p:nvPr/>
        </p:nvGrpSpPr>
        <p:grpSpPr>
          <a:xfrm>
            <a:off x="2821425" y="2236525"/>
            <a:ext cx="4223400" cy="1004988"/>
            <a:chOff x="2996825" y="1815813"/>
            <a:chExt cx="4223400" cy="1004988"/>
          </a:xfrm>
        </p:grpSpPr>
        <p:sp>
          <p:nvSpPr>
            <p:cNvPr id="314" name="Google Shape;314;p32"/>
            <p:cNvSpPr/>
            <p:nvPr/>
          </p:nvSpPr>
          <p:spPr>
            <a:xfrm>
              <a:off x="2996825" y="2416700"/>
              <a:ext cx="4223400" cy="4041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2"/>
            <p:cNvSpPr txBox="1"/>
            <p:nvPr/>
          </p:nvSpPr>
          <p:spPr>
            <a:xfrm>
              <a:off x="3331575" y="1815813"/>
              <a:ext cx="2815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Build Navigator</a:t>
              </a:r>
              <a:endParaRPr b="1" sz="26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6" name="Google Shape;316;p32"/>
          <p:cNvGrpSpPr/>
          <p:nvPr/>
        </p:nvGrpSpPr>
        <p:grpSpPr>
          <a:xfrm>
            <a:off x="2821425" y="3896050"/>
            <a:ext cx="4223400" cy="884000"/>
            <a:chOff x="3080525" y="2836675"/>
            <a:chExt cx="4223400" cy="884000"/>
          </a:xfrm>
        </p:grpSpPr>
        <p:sp>
          <p:nvSpPr>
            <p:cNvPr id="317" name="Google Shape;317;p32"/>
            <p:cNvSpPr/>
            <p:nvPr/>
          </p:nvSpPr>
          <p:spPr>
            <a:xfrm>
              <a:off x="3080525" y="3316575"/>
              <a:ext cx="4223400" cy="404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2"/>
            <p:cNvSpPr txBox="1"/>
            <p:nvPr/>
          </p:nvSpPr>
          <p:spPr>
            <a:xfrm>
              <a:off x="3331575" y="2836675"/>
              <a:ext cx="2815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FFFF"/>
                  </a:solidFill>
                  <a:latin typeface="Lato"/>
                  <a:ea typeface="Lato"/>
                  <a:cs typeface="Lato"/>
                  <a:sym typeface="Lato"/>
                </a:rPr>
                <a:t>Navigator</a:t>
              </a:r>
              <a:endParaRPr b="1" sz="26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195375" y="205850"/>
            <a:ext cx="76776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The flutter framework doesn't provide a default implementation of </a:t>
            </a:r>
            <a:r>
              <a:rPr b="1" lang="en" sz="1700">
                <a:solidFill>
                  <a:srgbClr val="00FFFF"/>
                </a:solidFill>
              </a:rPr>
              <a:t>RouterDelegate</a:t>
            </a:r>
            <a:r>
              <a:rPr lang="en" sz="1700">
                <a:solidFill>
                  <a:schemeClr val="lt1"/>
                </a:solidFill>
              </a:rPr>
              <a:t>, so you need to define this. </a:t>
            </a:r>
            <a:r>
              <a:rPr lang="en" sz="1700">
                <a:solidFill>
                  <a:srgbClr val="F5EF23"/>
                </a:solidFill>
              </a:rPr>
              <a:t>It acts as a builder for the </a:t>
            </a:r>
            <a:r>
              <a:rPr b="1" lang="en" sz="1700">
                <a:solidFill>
                  <a:srgbClr val="00FFFF"/>
                </a:solidFill>
              </a:rPr>
              <a:t>router</a:t>
            </a:r>
            <a:r>
              <a:rPr lang="en" sz="1700">
                <a:solidFill>
                  <a:srgbClr val="00FFFF"/>
                </a:solidFill>
              </a:rPr>
              <a:t> </a:t>
            </a:r>
            <a:r>
              <a:rPr b="1" lang="en" sz="1700">
                <a:solidFill>
                  <a:srgbClr val="00FFFF"/>
                </a:solidFill>
              </a:rPr>
              <a:t>widget</a:t>
            </a:r>
            <a:r>
              <a:rPr lang="en" sz="1700">
                <a:solidFill>
                  <a:schemeClr val="lt1"/>
                </a:solidFill>
              </a:rPr>
              <a:t> </a:t>
            </a:r>
            <a:r>
              <a:rPr lang="en" sz="1700">
                <a:solidFill>
                  <a:srgbClr val="6DFA05"/>
                </a:solidFill>
              </a:rPr>
              <a:t>and</a:t>
            </a:r>
            <a:r>
              <a:rPr lang="en" sz="1700">
                <a:solidFill>
                  <a:schemeClr val="lt1"/>
                </a:solidFill>
              </a:rPr>
              <a:t> </a:t>
            </a:r>
            <a:r>
              <a:rPr lang="en" sz="1700">
                <a:solidFill>
                  <a:srgbClr val="6DFA05"/>
                </a:solidFill>
              </a:rPr>
              <a:t>builds a </a:t>
            </a:r>
            <a:r>
              <a:rPr b="1" lang="en" sz="1700">
                <a:solidFill>
                  <a:srgbClr val="00FFFF"/>
                </a:solidFill>
              </a:rPr>
              <a:t>navigator</a:t>
            </a:r>
            <a:r>
              <a:rPr lang="en" sz="1700">
                <a:solidFill>
                  <a:srgbClr val="00FFFF"/>
                </a:solidFill>
              </a:rPr>
              <a:t> </a:t>
            </a:r>
            <a:r>
              <a:rPr b="1" lang="en" sz="1700">
                <a:solidFill>
                  <a:srgbClr val="00FFFF"/>
                </a:solidFill>
              </a:rPr>
              <a:t>widget</a:t>
            </a:r>
            <a:r>
              <a:rPr lang="en" sz="1700">
                <a:solidFill>
                  <a:schemeClr val="lt1"/>
                </a:solidFill>
              </a:rPr>
              <a:t>. So the class which extends </a:t>
            </a:r>
            <a:r>
              <a:rPr b="1" lang="en" sz="1700">
                <a:solidFill>
                  <a:srgbClr val="00FFFF"/>
                </a:solidFill>
              </a:rPr>
              <a:t>RouteDelegate</a:t>
            </a:r>
            <a:r>
              <a:rPr lang="en" sz="1700">
                <a:solidFill>
                  <a:schemeClr val="lt1"/>
                </a:solidFill>
              </a:rPr>
              <a:t> </a:t>
            </a:r>
            <a:r>
              <a:rPr lang="en" sz="1700">
                <a:solidFill>
                  <a:srgbClr val="6DFA05"/>
                </a:solidFill>
              </a:rPr>
              <a:t>gets the power to decide which page to show.</a:t>
            </a:r>
            <a:endParaRPr sz="1700">
              <a:solidFill>
                <a:srgbClr val="6DFA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The </a:t>
            </a:r>
            <a:r>
              <a:rPr b="1" lang="en" sz="1700">
                <a:solidFill>
                  <a:srgbClr val="00FFFF"/>
                </a:solidFill>
              </a:rPr>
              <a:t>routerDelegate</a:t>
            </a:r>
            <a:r>
              <a:rPr lang="en" sz="1700">
                <a:solidFill>
                  <a:schemeClr val="lt1"/>
                </a:solidFill>
              </a:rPr>
              <a:t> </a:t>
            </a:r>
            <a:r>
              <a:rPr lang="en" sz="1700">
                <a:solidFill>
                  <a:srgbClr val="F5EF23"/>
                </a:solidFill>
              </a:rPr>
              <a:t>is also informed about routing-related operating system events like:</a:t>
            </a:r>
            <a:endParaRPr sz="1700">
              <a:solidFill>
                <a:srgbClr val="F5EF2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 u="sng">
                <a:solidFill>
                  <a:srgbClr val="00FFFF"/>
                </a:solidFill>
              </a:rPr>
              <a:t>popRoute</a:t>
            </a:r>
            <a:r>
              <a:rPr lang="en" sz="1700">
                <a:solidFill>
                  <a:schemeClr val="lt1"/>
                </a:solidFill>
              </a:rPr>
              <a:t> is called when the </a:t>
            </a:r>
            <a:r>
              <a:rPr lang="en" sz="1700">
                <a:solidFill>
                  <a:srgbClr val="00FFFF"/>
                </a:solidFill>
              </a:rPr>
              <a:t>backButtonDispatcher</a:t>
            </a:r>
            <a:r>
              <a:rPr lang="en" sz="1700">
                <a:solidFill>
                  <a:schemeClr val="lt1"/>
                </a:solidFill>
              </a:rPr>
              <a:t> notifies the Router that the user has pressed the system's back button.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 u="sng">
                <a:solidFill>
                  <a:srgbClr val="00FFFF"/>
                </a:solidFill>
              </a:rPr>
              <a:t>setInitialRoutePath</a:t>
            </a:r>
            <a:r>
              <a:rPr lang="en" sz="1700">
                <a:solidFill>
                  <a:schemeClr val="lt1"/>
                </a:solidFill>
              </a:rPr>
              <a:t> is called shortly after the Router has been built for the first time with the initial route information obtained from the </a:t>
            </a:r>
            <a:r>
              <a:rPr b="1" i="1" lang="en" sz="1700" u="sng">
                <a:solidFill>
                  <a:srgbClr val="00FFFF"/>
                </a:solidFill>
              </a:rPr>
              <a:t>routeNameProvider.</a:t>
            </a:r>
            <a:r>
              <a:rPr lang="en" sz="1700">
                <a:solidFill>
                  <a:schemeClr val="lt1"/>
                </a:solidFill>
              </a:rPr>
              <a:t> The route name is parsed by the </a:t>
            </a:r>
            <a:r>
              <a:rPr lang="en" sz="1700">
                <a:solidFill>
                  <a:srgbClr val="00FFFF"/>
                </a:solidFill>
              </a:rPr>
              <a:t>routeNameParser </a:t>
            </a:r>
            <a:r>
              <a:rPr lang="en" sz="1700">
                <a:solidFill>
                  <a:schemeClr val="lt1"/>
                </a:solidFill>
              </a:rPr>
              <a:t>before it is passed into this method. By default, this method is just forwarded to setNewRoutePath.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 u="sng">
                <a:solidFill>
                  <a:srgbClr val="00FFFF"/>
                </a:solidFill>
              </a:rPr>
              <a:t>setNewRoutePath</a:t>
            </a:r>
            <a:r>
              <a:rPr lang="en" sz="1700">
                <a:solidFill>
                  <a:schemeClr val="lt1"/>
                </a:solidFill>
              </a:rPr>
              <a:t> is called whenever the </a:t>
            </a:r>
            <a:r>
              <a:rPr lang="en" sz="1700">
                <a:solidFill>
                  <a:srgbClr val="00FFFF"/>
                </a:solidFill>
              </a:rPr>
              <a:t>routeNameProvider</a:t>
            </a:r>
            <a:r>
              <a:rPr lang="en" sz="1700">
                <a:solidFill>
                  <a:schemeClr val="lt1"/>
                </a:solidFill>
              </a:rPr>
              <a:t> signals that a new route should be shown. The route name is parsed by the routeNameParser before it is passed into this method.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"/>
          <p:cNvSpPr txBox="1"/>
          <p:nvPr/>
        </p:nvSpPr>
        <p:spPr>
          <a:xfrm>
            <a:off x="1133700" y="197200"/>
            <a:ext cx="7505100" cy="4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609600" rtl="0" algn="l">
              <a:lnSpc>
                <a:spcPct val="160000"/>
              </a:lnSpc>
              <a:spcBef>
                <a:spcPts val="4800"/>
              </a:spcBef>
              <a:spcAft>
                <a:spcPts val="0"/>
              </a:spcAft>
              <a:buClr>
                <a:srgbClr val="F5EF23"/>
              </a:buClr>
              <a:buSzPts val="2100"/>
              <a:buFont typeface="Georgia"/>
              <a:buAutoNum type="arabicPeriod"/>
            </a:pP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he </a:t>
            </a:r>
            <a:r>
              <a:rPr b="1" lang="en" sz="21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router delegate</a:t>
            </a: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will return navigator in build function,</a:t>
            </a:r>
            <a:endParaRPr sz="2100">
              <a:solidFill>
                <a:schemeClr val="lt1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6096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5EF23"/>
              </a:buClr>
              <a:buSzPts val="2100"/>
              <a:buFont typeface="Georgia"/>
              <a:buAutoNum type="arabicPeriod"/>
            </a:pP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" sz="21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navigator widget</a:t>
            </a: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takes a list of pages and </a:t>
            </a:r>
            <a:r>
              <a:rPr lang="en" sz="210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onPopPage callback,</a:t>
            </a:r>
            <a:endParaRPr sz="2100">
              <a:solidFill>
                <a:srgbClr val="F5EF23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6096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5EF23"/>
              </a:buClr>
              <a:buSzPts val="2100"/>
              <a:buFont typeface="Georgia"/>
              <a:buAutoNum type="arabicPeriod"/>
            </a:pP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 list of pages contains the </a:t>
            </a:r>
            <a:r>
              <a:rPr b="1" lang="en" sz="21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MaterialPageRoute</a:t>
            </a: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which tells which screen to be displayed and </a:t>
            </a:r>
            <a:r>
              <a:rPr b="1" lang="en" sz="21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onPopPage</a:t>
            </a: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21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callback</a:t>
            </a: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will handle the pop behavior of the app with the current navigator,</a:t>
            </a:r>
            <a:endParaRPr sz="2100">
              <a:solidFill>
                <a:schemeClr val="lt1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6096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5EF23"/>
              </a:buClr>
              <a:buSzPts val="2100"/>
              <a:buFont typeface="Georgia"/>
              <a:buAutoNum type="arabicPeriod"/>
            </a:pP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" sz="21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setNewRoutePath</a:t>
            </a:r>
            <a:r>
              <a:rPr lang="en" sz="2100">
                <a:solidFill>
                  <a:schemeClr val="lt1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will be called every time the OS events take place with respect to the navigator and updates the pages list accordingly.</a:t>
            </a:r>
            <a:endParaRPr sz="2100">
              <a:solidFill>
                <a:schemeClr val="lt1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 txBox="1"/>
          <p:nvPr>
            <p:ph type="title"/>
          </p:nvPr>
        </p:nvSpPr>
        <p:spPr>
          <a:xfrm>
            <a:off x="1297500" y="198600"/>
            <a:ext cx="70389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 InformationParser</a:t>
            </a:r>
            <a:endParaRPr sz="4500">
              <a:solidFill>
                <a:srgbClr val="00FFFF"/>
              </a:solidFill>
              <a:highlight>
                <a:schemeClr val="dk1"/>
              </a:highlight>
            </a:endParaRPr>
          </a:p>
        </p:txBody>
      </p:sp>
      <p:sp>
        <p:nvSpPr>
          <p:cNvPr id="334" name="Google Shape;334;p35"/>
          <p:cNvSpPr txBox="1"/>
          <p:nvPr>
            <p:ph idx="1" type="body"/>
          </p:nvPr>
        </p:nvSpPr>
        <p:spPr>
          <a:xfrm>
            <a:off x="794525" y="780575"/>
            <a:ext cx="8251800" cy="43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18181"/>
              </a:lnSpc>
              <a:spcBef>
                <a:spcPts val="1700"/>
              </a:spcBef>
              <a:spcAft>
                <a:spcPts val="0"/>
              </a:spcAft>
              <a:buSzPts val="1018"/>
              <a:buNone/>
            </a:pPr>
            <a:r>
              <a:rPr b="1" lang="en" sz="151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RouteInformationParser</a:t>
            </a:r>
            <a:r>
              <a:rPr b="1" lang="en" sz="1879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1879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delegate is responsible for parsing route information coming from the OS so that</a:t>
            </a:r>
            <a:r>
              <a:rPr b="1" lang="en" sz="1879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151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RouterDelegate</a:t>
            </a:r>
            <a:r>
              <a:rPr b="1" lang="en" sz="1879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1879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can update the app state.</a:t>
            </a:r>
            <a:r>
              <a:rPr b="1" lang="en" sz="1879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1879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It also handles restoring route information according to app state changes so that OS can be update on the navigation history</a:t>
            </a:r>
            <a:r>
              <a:rPr b="1" lang="en" sz="1879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 We can instantiate a </a:t>
            </a:r>
            <a:r>
              <a:rPr b="1" lang="en" sz="151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b="1" lang="en" sz="1879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1879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widget without a </a:t>
            </a:r>
            <a:r>
              <a:rPr b="1" lang="en" sz="151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RouteInformationParser</a:t>
            </a:r>
            <a:r>
              <a:rPr b="1" lang="en" sz="1879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1879">
                <a:solidFill>
                  <a:srgbClr val="FF9900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but we will lack a complete Web application experience when we can’t restore and parse URLs on the address bar of we browsers.</a:t>
            </a:r>
            <a:endParaRPr b="1" sz="1879">
              <a:solidFill>
                <a:srgbClr val="FF9900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2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"/>
          <p:cNvSpPr txBox="1"/>
          <p:nvPr>
            <p:ph type="title"/>
          </p:nvPr>
        </p:nvSpPr>
        <p:spPr>
          <a:xfrm>
            <a:off x="1297500" y="268275"/>
            <a:ext cx="70389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 Information Provider</a:t>
            </a:r>
            <a:endParaRPr sz="3500">
              <a:solidFill>
                <a:srgbClr val="00FFFF"/>
              </a:solidFill>
              <a:highlight>
                <a:schemeClr val="dk1"/>
              </a:highlight>
            </a:endParaRPr>
          </a:p>
        </p:txBody>
      </p:sp>
      <p:sp>
        <p:nvSpPr>
          <p:cNvPr id="340" name="Google Shape;340;p36"/>
          <p:cNvSpPr txBox="1"/>
          <p:nvPr>
            <p:ph idx="1" type="body"/>
          </p:nvPr>
        </p:nvSpPr>
        <p:spPr>
          <a:xfrm>
            <a:off x="571500" y="892100"/>
            <a:ext cx="83775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18181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RouteInformationProvider</a:t>
            </a:r>
            <a:r>
              <a:rPr lang="en" sz="19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900">
                <a:solidFill>
                  <a:srgbClr val="F5EF23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delegate handles creating a route information from the OS intents</a:t>
            </a:r>
            <a:r>
              <a:rPr lang="en" sz="19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. For example, when we type on the address bar of the Web browser, the task of the </a:t>
            </a:r>
            <a:r>
              <a:rPr lang="en" sz="15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RouteInformationProvider</a:t>
            </a:r>
            <a:r>
              <a:rPr lang="en" sz="19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90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is interpreting the URL to an entity that the</a:t>
            </a:r>
            <a:r>
              <a:rPr lang="en" sz="19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5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19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 uses internally with its delegates. This delegate is more like a mouth and ear because it is the ear of the </a:t>
            </a:r>
            <a:r>
              <a:rPr lang="en" sz="15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19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 that interprets the new intent signals from the OS, and mouth that tells the updated route information back to the OS when app state changes.</a:t>
            </a:r>
            <a:endParaRPr sz="1900"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Back Button Dispatcher</a:t>
            </a:r>
            <a:endParaRPr sz="4300">
              <a:solidFill>
                <a:srgbClr val="00FFFF"/>
              </a:solidFill>
              <a:highlight>
                <a:schemeClr val="dk1"/>
              </a:highlight>
            </a:endParaRPr>
          </a:p>
        </p:txBody>
      </p:sp>
      <p:sp>
        <p:nvSpPr>
          <p:cNvPr id="346" name="Google Shape;346;p37"/>
          <p:cNvSpPr txBox="1"/>
          <p:nvPr>
            <p:ph idx="1" type="body"/>
          </p:nvPr>
        </p:nvSpPr>
        <p:spPr>
          <a:xfrm>
            <a:off x="1297500" y="1567550"/>
            <a:ext cx="70389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BackButtonDispatcher</a:t>
            </a:r>
            <a:r>
              <a:rPr lang="en" sz="28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2800">
                <a:solidFill>
                  <a:srgbClr val="6DFA05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delegate is responsible for reporting the system level pop events on platforms that has platform back button or gestures.</a:t>
            </a:r>
            <a:r>
              <a:rPr lang="en" sz="28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Again, this delegate is more like an ear that listen for the signals coming from the OS</a:t>
            </a:r>
            <a:endParaRPr sz="25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There are two ways of using the </a:t>
            </a:r>
            <a:r>
              <a:rPr lang="en" sz="2200" u="sng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Router</a:t>
            </a:r>
            <a:r>
              <a:rPr lang="en" sz="2600">
                <a:solidFill>
                  <a:srgbClr val="00FFFF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widget </a:t>
            </a:r>
            <a:r>
              <a:rPr lang="en" sz="2600"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within the </a:t>
            </a:r>
            <a:r>
              <a:rPr lang="en" sz="2200">
                <a:solidFill>
                  <a:srgbClr val="00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WidgetsApp</a:t>
            </a:r>
            <a:endParaRPr sz="3400">
              <a:solidFill>
                <a:srgbClr val="00FFFF"/>
              </a:solidFill>
              <a:highlight>
                <a:schemeClr val="dk1"/>
              </a:highlight>
            </a:endParaRPr>
          </a:p>
        </p:txBody>
      </p:sp>
      <p:sp>
        <p:nvSpPr>
          <p:cNvPr id="352" name="Google Shape;352;p38"/>
          <p:cNvSpPr txBox="1"/>
          <p:nvPr>
            <p:ph idx="1" type="body"/>
          </p:nvPr>
        </p:nvSpPr>
        <p:spPr>
          <a:xfrm>
            <a:off x="1297500" y="1567550"/>
            <a:ext cx="3403200" cy="34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Using </a:t>
            </a:r>
            <a:r>
              <a:rPr b="1" lang="en" sz="2000">
                <a:solidFill>
                  <a:srgbClr val="00FFFF"/>
                </a:solidFill>
              </a:rPr>
              <a:t>WidgetsApp.router constructor</a:t>
            </a:r>
            <a:r>
              <a:rPr lang="en" sz="2000"/>
              <a:t>, we pass the Router widget delegates as constructor parameters. Note that, using this method requires passing the </a:t>
            </a:r>
            <a:r>
              <a:rPr lang="en" sz="2000">
                <a:solidFill>
                  <a:srgbClr val="00FFFF"/>
                </a:solidFill>
              </a:rPr>
              <a:t>RouteInformationParser delegate</a:t>
            </a:r>
            <a:r>
              <a:rPr lang="en" sz="2000"/>
              <a:t> </a:t>
            </a:r>
            <a:r>
              <a:rPr lang="en" sz="2000">
                <a:solidFill>
                  <a:srgbClr val="F5EF23"/>
                </a:solidFill>
              </a:rPr>
              <a:t>as constructor parameter</a:t>
            </a:r>
            <a:r>
              <a:rPr lang="en" sz="2000"/>
              <a:t>. </a:t>
            </a:r>
            <a:endParaRPr sz="2000"/>
          </a:p>
        </p:txBody>
      </p:sp>
      <p:sp>
        <p:nvSpPr>
          <p:cNvPr id="353" name="Google Shape;353;p38"/>
          <p:cNvSpPr txBox="1"/>
          <p:nvPr>
            <p:ph idx="2" type="body"/>
          </p:nvPr>
        </p:nvSpPr>
        <p:spPr>
          <a:xfrm>
            <a:off x="4795025" y="1567550"/>
            <a:ext cx="4140000" cy="34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00FFFF"/>
                </a:solidFill>
              </a:rPr>
              <a:t>Instantiating the Router widget</a:t>
            </a:r>
            <a:r>
              <a:rPr b="1" lang="en" sz="1700"/>
              <a:t> </a:t>
            </a:r>
            <a:r>
              <a:rPr b="1" lang="en" sz="1700">
                <a:solidFill>
                  <a:srgbClr val="F5EF23"/>
                </a:solidFill>
              </a:rPr>
              <a:t>and passing it as the </a:t>
            </a:r>
            <a:r>
              <a:rPr b="1" lang="en" sz="1700">
                <a:solidFill>
                  <a:srgbClr val="00FFFF"/>
                </a:solidFill>
              </a:rPr>
              <a:t>home property</a:t>
            </a:r>
            <a:r>
              <a:rPr b="1" lang="en" sz="1700"/>
              <a:t> </a:t>
            </a:r>
            <a:r>
              <a:rPr lang="en" sz="1700"/>
              <a:t>of the WidgetApp. In this case, the </a:t>
            </a:r>
            <a:r>
              <a:rPr lang="en" sz="1700">
                <a:solidFill>
                  <a:srgbClr val="00FFFF"/>
                </a:solidFill>
              </a:rPr>
              <a:t>RouterDelegate</a:t>
            </a:r>
            <a:r>
              <a:rPr lang="en" sz="1700"/>
              <a:t> should be non-null. We don’t have to provide other delegates when constructing theRouter widget unless we want to customize the default behaviours </a:t>
            </a:r>
            <a:r>
              <a:rPr lang="en" sz="1700">
                <a:solidFill>
                  <a:srgbClr val="00FFFF"/>
                </a:solidFill>
              </a:rPr>
              <a:t>RouteInformationProvider</a:t>
            </a:r>
            <a:r>
              <a:rPr lang="en" sz="1700"/>
              <a:t> or utilize the capabilities of the </a:t>
            </a:r>
            <a:r>
              <a:rPr lang="en" sz="1700">
                <a:solidFill>
                  <a:srgbClr val="00FFFF"/>
                </a:solidFill>
              </a:rPr>
              <a:t>RouteInformationParser </a:t>
            </a:r>
            <a:r>
              <a:rPr lang="en" sz="1700"/>
              <a:t>and the </a:t>
            </a:r>
            <a:r>
              <a:rPr lang="en" sz="1700">
                <a:solidFill>
                  <a:srgbClr val="00FFFF"/>
                </a:solidFill>
              </a:rPr>
              <a:t>BackButtonDispatcher</a:t>
            </a:r>
            <a:r>
              <a:rPr lang="en" sz="1700"/>
              <a:t>.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